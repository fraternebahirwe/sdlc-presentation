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8" r:id="rId7"/>
    <p:sldId id="260" r:id="rId8"/>
    <p:sldId id="269" r:id="rId9"/>
    <p:sldId id="270" r:id="rId10"/>
    <p:sldId id="271" r:id="rId11"/>
    <p:sldId id="272" r:id="rId12"/>
    <p:sldId id="273" r:id="rId13"/>
    <p:sldId id="2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9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21"/>
        <p:guide pos="297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979" y="2130425"/>
            <a:ext cx="7774425"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957" y="3886200"/>
            <a:ext cx="640246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01" y="4406900"/>
            <a:ext cx="7774425"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501" y="2906713"/>
            <a:ext cx="777442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319" y="1600200"/>
            <a:ext cx="40396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9411" y="1600200"/>
            <a:ext cx="40396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319" y="1535113"/>
            <a:ext cx="40412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319" y="2174875"/>
            <a:ext cx="40412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6235" y="1535113"/>
            <a:ext cx="4042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6235" y="2174875"/>
            <a:ext cx="404282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19" y="273050"/>
            <a:ext cx="3009097"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981" y="273050"/>
            <a:ext cx="511308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319" y="1435100"/>
            <a:ext cx="300909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755" y="4800600"/>
            <a:ext cx="5487829"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755" y="612775"/>
            <a:ext cx="548782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755" y="5367338"/>
            <a:ext cx="548782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1127" y="274638"/>
            <a:ext cx="2057936"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319" y="274638"/>
            <a:ext cx="6021368"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319" y="274638"/>
            <a:ext cx="8231744"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319" y="1600200"/>
            <a:ext cx="8231744"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319" y="6356350"/>
            <a:ext cx="213415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5014" y="6356350"/>
            <a:ext cx="289635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4907" y="6356350"/>
            <a:ext cx="213415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p:sp>
        <p:nvSpPr>
          <p:cNvPr id="3" name="Rounded Rectangle 2"/>
          <p:cNvSpPr/>
          <p:nvPr/>
        </p:nvSpPr>
        <p:spPr>
          <a:xfrm>
            <a:off x="190500" y="2292985"/>
            <a:ext cx="11772265" cy="4440555"/>
          </a:xfrm>
          <a:prstGeom prst="roundRect">
            <a:avLst/>
          </a:prstGeom>
        </p:spPr>
        <p:style>
          <a:lnRef idx="0">
            <a:srgbClr val="FFFFFF"/>
          </a:lnRef>
          <a:fillRef idx="2">
            <a:schemeClr val="accent1"/>
          </a:fillRef>
          <a:effectRef idx="0">
            <a:srgbClr val="FFFFFF"/>
          </a:effectRef>
          <a:fontRef idx="minor">
            <a:schemeClr val="lt1"/>
          </a:fontRef>
        </p:style>
        <p:txBody>
          <a:bodyPr rtlCol="0" anchor="ctr"/>
          <a:lstStyle/>
          <a:p>
            <a:pPr algn="ctr"/>
            <a:endParaRPr sz="845"/>
          </a:p>
        </p:txBody>
      </p:sp>
      <p:sp>
        <p:nvSpPr>
          <p:cNvPr id="2" name="TextBox 1"/>
          <p:cNvSpPr txBox="1"/>
          <p:nvPr/>
        </p:nvSpPr>
        <p:spPr>
          <a:xfrm>
            <a:off x="4192043" y="1949859"/>
            <a:ext cx="3666490" cy="307975"/>
          </a:xfrm>
          <a:prstGeom prst="rect">
            <a:avLst/>
          </a:prstGeom>
        </p:spPr>
        <p:style>
          <a:lnRef idx="0">
            <a:srgbClr val="FFFFFF"/>
          </a:lnRef>
          <a:fillRef idx="2">
            <a:schemeClr val="accent1"/>
          </a:fillRef>
          <a:effectRef idx="0">
            <a:srgbClr val="FFFFFF"/>
          </a:effectRef>
          <a:fontRef idx="minor">
            <a:schemeClr val="lt1"/>
          </a:fontRef>
        </p:style>
        <p:txBody>
          <a:bodyPr wrap="none">
            <a:spAutoFit/>
          </a:bodyPr>
          <a:lstStyle/>
          <a:p>
            <a:pPr algn="ctr">
              <a:defRPr sz="3000" b="1">
                <a:solidFill>
                  <a:srgbClr val="000000"/>
                </a:solidFill>
              </a:defRPr>
            </a:pPr>
            <a:r>
              <a:rPr sz="1405"/>
              <a:t>Software Development Life Cycle (SDLC)</a:t>
            </a:r>
            <a:endParaRPr sz="1405"/>
          </a:p>
        </p:txBody>
      </p:sp>
      <p:sp>
        <p:nvSpPr>
          <p:cNvPr id="4" name="TextBox 3"/>
          <p:cNvSpPr txBox="1"/>
          <p:nvPr/>
        </p:nvSpPr>
        <p:spPr>
          <a:xfrm>
            <a:off x="4466056" y="3291745"/>
            <a:ext cx="3392081" cy="407670"/>
          </a:xfrm>
          <a:prstGeom prst="rect">
            <a:avLst/>
          </a:prstGeom>
          <a:noFill/>
        </p:spPr>
        <p:txBody>
          <a:bodyPr wrap="square">
            <a:spAutoFit/>
          </a:bodyPr>
          <a:lstStyle/>
          <a:p>
            <a:pPr algn="ctr">
              <a:defRPr sz="2200"/>
            </a:pPr>
            <a:r>
              <a:rPr sz="1030"/>
              <a:t>Professional Overview</a:t>
            </a:r>
            <a:endParaRPr sz="1030"/>
          </a:p>
          <a:p>
            <a:pPr algn="ctr">
              <a:defRPr sz="2200"/>
            </a:pPr>
            <a:r>
              <a:rPr sz="1030"/>
              <a:t>Presented by: </a:t>
            </a:r>
            <a:r>
              <a:rPr sz="1030" b="1"/>
              <a:t>Fraterne Bahirwe</a:t>
            </a:r>
            <a:r>
              <a:rPr lang="en-US" sz="1030"/>
              <a:t> (Software Developer)</a:t>
            </a:r>
            <a:endParaRPr lang="en-US" sz="103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p:sp>
        <p:nvSpPr>
          <p:cNvPr id="2" name="TextBox 1"/>
          <p:cNvSpPr txBox="1"/>
          <p:nvPr/>
        </p:nvSpPr>
        <p:spPr>
          <a:xfrm>
            <a:off x="5101627" y="1949859"/>
            <a:ext cx="1541070" cy="307975"/>
          </a:xfrm>
          <a:prstGeom prst="rect">
            <a:avLst/>
          </a:prstGeom>
          <a:solidFill>
            <a:schemeClr val="tx2">
              <a:lumMod val="20000"/>
              <a:lumOff val="80000"/>
            </a:schemeClr>
          </a:solidFill>
        </p:spPr>
        <p:txBody>
          <a:bodyPr wrap="square">
            <a:spAutoFit/>
          </a:bodyPr>
          <a:lstStyle/>
          <a:p>
            <a:pPr algn="ctr">
              <a:defRPr sz="3000" b="1">
                <a:solidFill>
                  <a:srgbClr val="000000"/>
                </a:solidFill>
              </a:defRPr>
            </a:pPr>
            <a:r>
              <a:rPr sz="1405"/>
              <a:t>Agenda</a:t>
            </a:r>
            <a:endParaRPr sz="1405"/>
          </a:p>
        </p:txBody>
      </p:sp>
      <p:sp>
        <p:nvSpPr>
          <p:cNvPr id="3" name="Rounded Rectangle 2"/>
          <p:cNvSpPr/>
          <p:nvPr/>
        </p:nvSpPr>
        <p:spPr>
          <a:xfrm>
            <a:off x="2021205" y="2294890"/>
            <a:ext cx="7701915" cy="2884805"/>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45"/>
          </a:p>
        </p:txBody>
      </p:sp>
      <p:sp>
        <p:nvSpPr>
          <p:cNvPr id="4" name="TextBox 3"/>
          <p:cNvSpPr txBox="1"/>
          <p:nvPr/>
        </p:nvSpPr>
        <p:spPr>
          <a:xfrm>
            <a:off x="3607897" y="2443541"/>
            <a:ext cx="4528531" cy="2061509"/>
          </a:xfrm>
          <a:prstGeom prst="rect">
            <a:avLst/>
          </a:prstGeom>
          <a:noFill/>
        </p:spPr>
        <p:txBody>
          <a:bodyPr wrap="square">
            <a:noAutofit/>
          </a:bodyPr>
          <a:lstStyle/>
          <a:p>
            <a:pPr algn="l">
              <a:defRPr sz="2200"/>
            </a:pPr>
            <a:r>
              <a:rPr lang="en-US" sz="1200" b="1"/>
              <a:t>1.  </a:t>
            </a:r>
            <a:r>
              <a:rPr sz="1200" b="1"/>
              <a:t>What is SDLC?</a:t>
            </a:r>
            <a:endParaRPr sz="1200" b="1"/>
          </a:p>
          <a:p>
            <a:pPr algn="l">
              <a:defRPr sz="2200"/>
            </a:pPr>
            <a:endParaRPr sz="1200" b="1"/>
          </a:p>
          <a:p>
            <a:pPr algn="l">
              <a:defRPr sz="2200"/>
            </a:pPr>
            <a:r>
              <a:rPr lang="en-US" sz="1200" b="1"/>
              <a:t>2. </a:t>
            </a:r>
            <a:r>
              <a:rPr sz="1200" b="1"/>
              <a:t>Why </a:t>
            </a:r>
            <a:r>
              <a:rPr lang="en-US" sz="1200" b="1"/>
              <a:t>is SDLC important?</a:t>
            </a:r>
            <a:endParaRPr sz="1200" b="1"/>
          </a:p>
          <a:p>
            <a:pPr algn="l">
              <a:defRPr sz="2200"/>
            </a:pPr>
            <a:endParaRPr sz="1200" b="1"/>
          </a:p>
          <a:p>
            <a:pPr algn="l">
              <a:defRPr sz="2200"/>
            </a:pPr>
            <a:r>
              <a:rPr lang="en-US" sz="1200" b="1"/>
              <a:t>3. How is SDLC work?</a:t>
            </a:r>
            <a:endParaRPr lang="en-US" sz="1200" b="1"/>
          </a:p>
          <a:p>
            <a:pPr algn="l">
              <a:defRPr sz="2200"/>
            </a:pPr>
            <a:endParaRPr lang="en-US" sz="1200" b="1"/>
          </a:p>
          <a:p>
            <a:pPr algn="l">
              <a:defRPr sz="2200"/>
            </a:pPr>
            <a:r>
              <a:rPr lang="en-US" sz="1200" b="1"/>
              <a:t>4. SDLC models</a:t>
            </a:r>
            <a:endParaRPr sz="1200" b="1"/>
          </a:p>
          <a:p>
            <a:pPr algn="l">
              <a:defRPr sz="2200"/>
            </a:pPr>
            <a:endParaRPr sz="1200" b="1"/>
          </a:p>
          <a:p>
            <a:pPr algn="l">
              <a:defRPr sz="2200"/>
            </a:pPr>
            <a:r>
              <a:rPr lang="en-US" sz="1200" b="1"/>
              <a:t>5. How does SDLC compare with other lifecycle management methodologies?</a:t>
            </a:r>
            <a:endParaRPr sz="1200" b="1">
              <a:sym typeface="+mn-ea"/>
            </a:endParaRPr>
          </a:p>
          <a:p>
            <a:pPr algn="l">
              <a:defRPr sz="2200"/>
            </a:pPr>
            <a:endParaRPr sz="1200" b="1"/>
          </a:p>
          <a:p>
            <a:pPr algn="l">
              <a:defRPr sz="2200"/>
            </a:pPr>
            <a:r>
              <a:rPr lang="en-US" sz="1200" b="1"/>
              <a:t>6. </a:t>
            </a:r>
            <a:r>
              <a:rPr sz="1200" b="1">
                <a:sym typeface="+mn-ea"/>
              </a:rPr>
              <a:t>Conclusion</a:t>
            </a:r>
            <a:endParaRPr sz="1200" b="1"/>
          </a:p>
          <a:p>
            <a:pPr algn="l">
              <a:defRPr sz="2200"/>
            </a:pPr>
            <a:endParaRPr sz="1200" b="1"/>
          </a:p>
          <a:p>
            <a:pPr algn="l">
              <a:defRPr sz="2200"/>
            </a:pPr>
            <a:endParaRPr sz="1200" b="1"/>
          </a:p>
          <a:p>
            <a:pPr algn="ctr">
              <a:defRPr sz="2200"/>
            </a:pPr>
            <a:endParaRPr sz="12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p:sp>
        <p:nvSpPr>
          <p:cNvPr id="2" name="TextBox 1"/>
          <p:cNvSpPr txBox="1"/>
          <p:nvPr/>
        </p:nvSpPr>
        <p:spPr>
          <a:xfrm>
            <a:off x="5288864" y="1949859"/>
            <a:ext cx="1601470" cy="307975"/>
          </a:xfrm>
          <a:prstGeom prst="rect">
            <a:avLst/>
          </a:prstGeom>
          <a:solidFill>
            <a:schemeClr val="tx2">
              <a:lumMod val="20000"/>
              <a:lumOff val="80000"/>
            </a:schemeClr>
          </a:solidFill>
        </p:spPr>
        <p:txBody>
          <a:bodyPr wrap="none">
            <a:spAutoFit/>
          </a:bodyPr>
          <a:lstStyle/>
          <a:p>
            <a:pPr algn="ctr">
              <a:defRPr sz="3000" b="1">
                <a:solidFill>
                  <a:srgbClr val="000000"/>
                </a:solidFill>
              </a:defRPr>
            </a:pPr>
            <a:r>
              <a:rPr lang="en-US" sz="1405"/>
              <a:t>1.</a:t>
            </a:r>
            <a:r>
              <a:rPr sz="1405"/>
              <a:t>What is SDLC?</a:t>
            </a:r>
            <a:endParaRPr sz="1405"/>
          </a:p>
        </p:txBody>
      </p:sp>
      <p:sp>
        <p:nvSpPr>
          <p:cNvPr id="3" name="Rounded Rectangle 2"/>
          <p:cNvSpPr/>
          <p:nvPr/>
        </p:nvSpPr>
        <p:spPr>
          <a:xfrm>
            <a:off x="3581489" y="2292848"/>
            <a:ext cx="5016219" cy="2358052"/>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45"/>
          </a:p>
        </p:txBody>
      </p:sp>
      <p:sp>
        <p:nvSpPr>
          <p:cNvPr id="4" name="TextBox 3"/>
          <p:cNvSpPr txBox="1"/>
          <p:nvPr/>
        </p:nvSpPr>
        <p:spPr>
          <a:xfrm>
            <a:off x="3661729" y="2464343"/>
            <a:ext cx="4855740" cy="1041400"/>
          </a:xfrm>
          <a:prstGeom prst="rect">
            <a:avLst/>
          </a:prstGeom>
          <a:solidFill>
            <a:schemeClr val="tx2">
              <a:lumMod val="20000"/>
              <a:lumOff val="80000"/>
            </a:schemeClr>
          </a:solidFill>
        </p:spPr>
        <p:txBody>
          <a:bodyPr wrap="square">
            <a:spAutoFit/>
          </a:bodyPr>
          <a:lstStyle/>
          <a:p>
            <a:pPr algn="ctr">
              <a:defRPr sz="2200"/>
            </a:pPr>
            <a:r>
              <a:rPr lang="en-US" sz="1030"/>
              <a:t>► </a:t>
            </a:r>
            <a:r>
              <a:rPr lang="en-US" sz="1030" b="1"/>
              <a:t>SDLC </a:t>
            </a:r>
            <a:r>
              <a:rPr lang="en-US" sz="1030"/>
              <a:t>is</a:t>
            </a:r>
            <a:r>
              <a:rPr sz="1030"/>
              <a:t> structured process to plan,</a:t>
            </a:r>
            <a:r>
              <a:rPr lang="en-US" sz="1030"/>
              <a:t>analyse,</a:t>
            </a:r>
            <a:r>
              <a:rPr sz="1030"/>
              <a:t> design, build, test, deploy and maintain software.</a:t>
            </a:r>
            <a:endParaRPr sz="1030"/>
          </a:p>
          <a:p>
            <a:pPr algn="ctr">
              <a:defRPr sz="2200"/>
            </a:pPr>
            <a:endParaRPr sz="1030"/>
          </a:p>
          <a:p>
            <a:pPr algn="ctr">
              <a:defRPr sz="2200"/>
            </a:pPr>
            <a:endParaRPr sz="1030"/>
          </a:p>
          <a:p>
            <a:pPr algn="l">
              <a:defRPr sz="2200"/>
            </a:pPr>
            <a:r>
              <a:rPr lang="en-US" sz="1030"/>
              <a:t>     ►</a:t>
            </a:r>
            <a:r>
              <a:rPr lang="en-US" sz="1030" b="1"/>
              <a:t>SDLC</a:t>
            </a:r>
            <a:r>
              <a:rPr lang="en-US" sz="1030"/>
              <a:t> is the process followed by software developer teams from initial idea        	up to maintaince software</a:t>
            </a:r>
            <a:endParaRPr sz="103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p:sp>
        <p:nvSpPr>
          <p:cNvPr id="2" name="TextBox 1"/>
          <p:cNvSpPr txBox="1"/>
          <p:nvPr/>
        </p:nvSpPr>
        <p:spPr>
          <a:xfrm>
            <a:off x="4881829" y="1949859"/>
            <a:ext cx="2415540" cy="307975"/>
          </a:xfrm>
          <a:prstGeom prst="rect">
            <a:avLst/>
          </a:prstGeom>
          <a:solidFill>
            <a:schemeClr val="tx2">
              <a:lumMod val="20000"/>
              <a:lumOff val="80000"/>
            </a:schemeClr>
          </a:solidFill>
        </p:spPr>
        <p:txBody>
          <a:bodyPr wrap="none">
            <a:spAutoFit/>
          </a:bodyPr>
          <a:lstStyle/>
          <a:p>
            <a:pPr algn="ctr">
              <a:defRPr sz="3000" b="1">
                <a:solidFill>
                  <a:srgbClr val="000000"/>
                </a:solidFill>
              </a:defRPr>
            </a:pPr>
            <a:r>
              <a:rPr lang="en-US" sz="1405"/>
              <a:t>2.</a:t>
            </a:r>
            <a:r>
              <a:rPr sz="1405"/>
              <a:t>Why is SDLC Important?</a:t>
            </a:r>
            <a:endParaRPr sz="1405"/>
          </a:p>
        </p:txBody>
      </p:sp>
      <p:sp>
        <p:nvSpPr>
          <p:cNvPr id="3" name="Rounded Rectangle 2"/>
          <p:cNvSpPr/>
          <p:nvPr/>
        </p:nvSpPr>
        <p:spPr>
          <a:xfrm>
            <a:off x="3581489" y="2292848"/>
            <a:ext cx="5016219" cy="2358052"/>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45"/>
          </a:p>
        </p:txBody>
      </p:sp>
      <p:sp>
        <p:nvSpPr>
          <p:cNvPr id="4" name="TextBox 3"/>
          <p:cNvSpPr txBox="1"/>
          <p:nvPr/>
        </p:nvSpPr>
        <p:spPr>
          <a:xfrm>
            <a:off x="3678104" y="2464343"/>
            <a:ext cx="4822990" cy="1931399"/>
          </a:xfrm>
          <a:prstGeom prst="rect">
            <a:avLst/>
          </a:prstGeom>
          <a:solidFill>
            <a:schemeClr val="tx2">
              <a:lumMod val="20000"/>
              <a:lumOff val="80000"/>
            </a:schemeClr>
          </a:solidFill>
        </p:spPr>
        <p:txBody>
          <a:bodyPr wrap="none">
            <a:noAutofit/>
          </a:bodyPr>
          <a:lstStyle/>
          <a:p>
            <a:pPr algn="l">
              <a:defRPr sz="2200"/>
            </a:pPr>
            <a:r>
              <a:rPr lang="en-US" sz="1030" b="1"/>
              <a:t>SDLC</a:t>
            </a:r>
            <a:r>
              <a:rPr lang="en-US" sz="1030"/>
              <a:t> has several </a:t>
            </a:r>
            <a:r>
              <a:rPr lang="en-US" altLang="en-US" sz="1030"/>
              <a:t>importances here is some of them :</a:t>
            </a:r>
            <a:endParaRPr lang="en-US" altLang="en-US" sz="1030"/>
          </a:p>
          <a:p>
            <a:pPr algn="l">
              <a:defRPr sz="2200"/>
            </a:pPr>
            <a:endParaRPr lang="en-US" altLang="en-US" sz="1030"/>
          </a:p>
          <a:p>
            <a:pPr indent="457200" algn="l">
              <a:defRPr sz="2200"/>
            </a:pPr>
            <a:r>
              <a:rPr lang="en-US" sz="1030"/>
              <a:t>▸I</a:t>
            </a:r>
            <a:r>
              <a:rPr sz="1030"/>
              <a:t>mproves quality</a:t>
            </a:r>
            <a:endParaRPr sz="1030"/>
          </a:p>
          <a:p>
            <a:pPr indent="457200" algn="l">
              <a:defRPr sz="2200"/>
            </a:pPr>
            <a:r>
              <a:rPr lang="en-US" sz="1030">
                <a:sym typeface="+mn-ea"/>
              </a:rPr>
              <a:t>▸</a:t>
            </a:r>
            <a:r>
              <a:rPr sz="1030"/>
              <a:t>Reduces risks</a:t>
            </a:r>
            <a:endParaRPr sz="1030"/>
          </a:p>
          <a:p>
            <a:pPr indent="457200" algn="l">
              <a:defRPr sz="2200"/>
            </a:pPr>
            <a:r>
              <a:rPr lang="en-US" sz="1030">
                <a:sym typeface="+mn-ea"/>
              </a:rPr>
              <a:t>▸</a:t>
            </a:r>
            <a:r>
              <a:rPr sz="1030"/>
              <a:t>Better planning</a:t>
            </a:r>
            <a:endParaRPr sz="1030"/>
          </a:p>
          <a:p>
            <a:pPr indent="457200" algn="l">
              <a:defRPr sz="2200"/>
            </a:pPr>
            <a:r>
              <a:rPr lang="en-US" sz="1030">
                <a:sym typeface="+mn-ea"/>
              </a:rPr>
              <a:t>▸</a:t>
            </a:r>
            <a:r>
              <a:rPr sz="1030"/>
              <a:t>Cost estimation</a:t>
            </a:r>
            <a:endParaRPr sz="1030"/>
          </a:p>
          <a:p>
            <a:pPr indent="457200" algn="l">
              <a:defRPr sz="2200"/>
            </a:pPr>
            <a:r>
              <a:rPr lang="en-US" sz="1030">
                <a:sym typeface="+mn-ea"/>
              </a:rPr>
              <a:t>▸</a:t>
            </a:r>
            <a:r>
              <a:rPr sz="1030"/>
              <a:t>Faster delivery</a:t>
            </a:r>
            <a:endParaRPr sz="103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ounded Rectangle 4"/>
          <p:cNvSpPr/>
          <p:nvPr/>
        </p:nvSpPr>
        <p:spPr>
          <a:xfrm>
            <a:off x="3581400" y="812800"/>
            <a:ext cx="5016103" cy="5871369"/>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altLang="en-US" sz="845" b="1">
                <a:solidFill>
                  <a:schemeClr val="tx1">
                    <a:lumMod val="95000"/>
                    <a:lumOff val="5000"/>
                  </a:schemeClr>
                </a:solidFill>
              </a:rPr>
              <a:t>1. Planning</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 team defines the goal of the project, the problem to solve, the resources needed, the timeline, and the estimated cost.</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It answers questions like: What are we building? Why are we building it? Is it possible?</a:t>
            </a:r>
            <a:endParaRPr lang="en-US" altLang="en-US" sz="845">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b="1">
                <a:solidFill>
                  <a:schemeClr val="tx1">
                    <a:lumMod val="95000"/>
                    <a:lumOff val="5000"/>
                  </a:schemeClr>
                </a:solidFill>
              </a:rPr>
              <a:t>2. Requirements Analysis</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 team collects and analyzes what users and stakeholders need from the software.</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They define the features, and requirements that the system must have.</a:t>
            </a:r>
            <a:endParaRPr lang="en-US" altLang="en-US" sz="845">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b="1">
                <a:solidFill>
                  <a:schemeClr val="tx1">
                    <a:lumMod val="95000"/>
                    <a:lumOff val="5000"/>
                  </a:schemeClr>
                </a:solidFill>
              </a:rPr>
              <a:t>3. Design</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Developers and designers create the blueprint of the software.</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They decide the system architecture, database structure, user interface (UI), technologies, and how different parts will work together.</a:t>
            </a:r>
            <a:endParaRPr lang="en-US" altLang="en-US" sz="845">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b="1">
                <a:solidFill>
                  <a:schemeClr val="tx1">
                    <a:lumMod val="95000"/>
                    <a:lumOff val="5000"/>
                  </a:schemeClr>
                </a:solidFill>
              </a:rPr>
              <a:t>4. Development (Implementation)</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This is the coding phase. Developers write the code based on the design specifications.</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Frontend, backend, databases, and other components are built during this stage.</a:t>
            </a:r>
            <a:endParaRPr lang="en-US" altLang="en-US" sz="845">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b="1">
                <a:solidFill>
                  <a:schemeClr val="tx1">
                    <a:lumMod val="95000"/>
                    <a:lumOff val="5000"/>
                  </a:schemeClr>
                </a:solidFill>
              </a:rPr>
              <a:t>5. Testing</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 software is checked to find and fix errors (bugs).</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QA engineers test whether the software works correctly, meets requirements, and provides a good user experience.</a:t>
            </a:r>
            <a:endParaRPr lang="en-US" altLang="en-US" sz="845">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b="1">
                <a:solidFill>
                  <a:schemeClr val="tx1">
                    <a:lumMod val="95000"/>
                    <a:lumOff val="5000"/>
                  </a:schemeClr>
                </a:solidFill>
              </a:rPr>
              <a:t>6. Deployment</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 completed software is released and made available to users.</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It can be installed on servers, published online, or delivered to customers.</a:t>
            </a:r>
            <a:endParaRPr lang="en-US" altLang="en-US" sz="845">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b="1">
                <a:solidFill>
                  <a:schemeClr val="tx1">
                    <a:lumMod val="95000"/>
                    <a:lumOff val="5000"/>
                  </a:schemeClr>
                </a:solidFill>
              </a:rPr>
              <a:t>7. Maintenance</a:t>
            </a:r>
            <a:endParaRPr lang="en-US" altLang="en-US" sz="845" b="1">
              <a:solidFill>
                <a:schemeClr val="tx1">
                  <a:lumMod val="95000"/>
                  <a:lumOff val="5000"/>
                </a:schemeClr>
              </a:solidFill>
            </a:endParaRPr>
          </a:p>
          <a:p>
            <a:pPr algn="l"/>
            <a:endParaRPr lang="en-US" altLang="en-US" sz="845">
              <a:solidFill>
                <a:schemeClr val="tx1">
                  <a:lumMod val="95000"/>
                  <a:lumOff val="5000"/>
                </a:schemeClr>
              </a:solidFill>
            </a:endParaRPr>
          </a:p>
          <a:p>
            <a:pPr algn="l"/>
            <a:r>
              <a:rPr lang="en-US" altLang="en-US" sz="845">
                <a:solidFill>
                  <a:schemeClr val="tx1">
                    <a:lumMod val="95000"/>
                    <a:lumOff val="5000"/>
                  </a:schemeClr>
                </a:solidFill>
              </a:rPr>
              <a:t>After release, the team continues improving and supporting the software.</a:t>
            </a:r>
            <a:endParaRPr lang="en-US" altLang="en-US" sz="845">
              <a:solidFill>
                <a:schemeClr val="tx1">
                  <a:lumMod val="95000"/>
                  <a:lumOff val="5000"/>
                </a:schemeClr>
              </a:solidFill>
            </a:endParaRPr>
          </a:p>
          <a:p>
            <a:pPr algn="l"/>
            <a:r>
              <a:rPr lang="en-US" altLang="en-US" sz="845">
                <a:solidFill>
                  <a:schemeClr val="tx1">
                    <a:lumMod val="95000"/>
                    <a:lumOff val="5000"/>
                  </a:schemeClr>
                </a:solidFill>
              </a:rPr>
              <a:t>They fix bugs, add new features and adapt the software to changing needs.</a:t>
            </a:r>
            <a:endParaRPr lang="en-US" altLang="en-US" sz="845">
              <a:solidFill>
                <a:schemeClr val="tx1">
                  <a:lumMod val="95000"/>
                  <a:lumOff val="5000"/>
                </a:schemeClr>
              </a:solidFill>
            </a:endParaRPr>
          </a:p>
        </p:txBody>
      </p:sp>
      <p:sp>
        <p:nvSpPr>
          <p:cNvPr id="3" name="TextBox 1"/>
          <p:cNvSpPr txBox="1"/>
          <p:nvPr/>
        </p:nvSpPr>
        <p:spPr>
          <a:xfrm>
            <a:off x="5113338" y="325041"/>
            <a:ext cx="1952228" cy="311150"/>
          </a:xfrm>
          <a:prstGeom prst="rect">
            <a:avLst/>
          </a:prstGeom>
          <a:solidFill>
            <a:schemeClr val="tx2">
              <a:lumMod val="20000"/>
              <a:lumOff val="80000"/>
            </a:schemeClr>
          </a:solidFill>
        </p:spPr>
        <p:txBody>
          <a:bodyPr wrap="none">
            <a:noAutofit/>
          </a:bodyPr>
          <a:lstStyle/>
          <a:p>
            <a:pPr algn="ctr">
              <a:defRPr sz="3000" b="1">
                <a:solidFill>
                  <a:srgbClr val="000000"/>
                </a:solidFill>
              </a:defRPr>
            </a:pPr>
            <a:r>
              <a:rPr lang="en-US" sz="1405"/>
              <a:t>3.How is SDLC work</a:t>
            </a:r>
            <a:r>
              <a:rPr sz="1405"/>
              <a:t>?</a:t>
            </a:r>
            <a:endParaRPr sz="140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8" name="Text Box 7"/>
          <p:cNvSpPr txBox="1"/>
          <p:nvPr/>
        </p:nvSpPr>
        <p:spPr>
          <a:xfrm>
            <a:off x="4952683" y="650875"/>
            <a:ext cx="2261235" cy="286385"/>
          </a:xfrm>
          <a:prstGeom prst="rect">
            <a:avLst/>
          </a:prstGeom>
          <a:solidFill>
            <a:schemeClr val="tx2">
              <a:lumMod val="20000"/>
              <a:lumOff val="80000"/>
            </a:schemeClr>
          </a:solidFill>
        </p:spPr>
        <p:txBody>
          <a:bodyPr wrap="square" rtlCol="0">
            <a:noAutofit/>
          </a:bodyPr>
          <a:p>
            <a:pPr algn="ctr"/>
            <a:r>
              <a:rPr lang="en-US" sz="1405" b="1"/>
              <a:t>A.Waterfall model</a:t>
            </a:r>
            <a:endParaRPr lang="en-US" sz="1405" b="1"/>
          </a:p>
        </p:txBody>
      </p:sp>
      <p:sp>
        <p:nvSpPr>
          <p:cNvPr id="19" name="Rounded Rectangle 18"/>
          <p:cNvSpPr/>
          <p:nvPr/>
        </p:nvSpPr>
        <p:spPr>
          <a:xfrm>
            <a:off x="3562350" y="1281906"/>
            <a:ext cx="5041900" cy="5077222"/>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5"/>
          </a:p>
        </p:txBody>
      </p:sp>
      <p:sp>
        <p:nvSpPr>
          <p:cNvPr id="20" name="Text Box 19"/>
          <p:cNvSpPr txBox="1"/>
          <p:nvPr/>
        </p:nvSpPr>
        <p:spPr>
          <a:xfrm>
            <a:off x="3953669" y="1531938"/>
            <a:ext cx="4259263" cy="1339453"/>
          </a:xfrm>
          <a:prstGeom prst="rect">
            <a:avLst/>
          </a:prstGeom>
          <a:noFill/>
        </p:spPr>
        <p:txBody>
          <a:bodyPr wrap="square" rtlCol="0">
            <a:noAutofit/>
          </a:bodyPr>
          <a:p>
            <a:r>
              <a:rPr lang="en-US" altLang="en-US" sz="1500">
                <a:sym typeface="+mn-ea"/>
              </a:rPr>
              <a:t>The Waterfall method is a traditional, sequential project management approach where a project progressestrictly step-by-step through distinct phases, flowing downward like a waterfall without turning back.</a:t>
            </a:r>
            <a:endParaRPr lang="en-US" altLang="en-US" sz="1500"/>
          </a:p>
          <a:p>
            <a:endParaRPr lang="en-US" altLang="en-US" sz="1500"/>
          </a:p>
        </p:txBody>
      </p:sp>
      <p:sp>
        <p:nvSpPr>
          <p:cNvPr id="22" name="Text Box 21"/>
          <p:cNvSpPr txBox="1"/>
          <p:nvPr/>
        </p:nvSpPr>
        <p:spPr>
          <a:xfrm>
            <a:off x="5130800" y="5503069"/>
            <a:ext cx="1905000" cy="574675"/>
          </a:xfrm>
          <a:prstGeom prst="rect">
            <a:avLst/>
          </a:prstGeom>
          <a:noFill/>
        </p:spPr>
        <p:txBody>
          <a:bodyPr wrap="square" rtlCol="0">
            <a:noAutofit/>
          </a:bodyPr>
          <a:p>
            <a:endParaRPr lang="en-US" sz="1125"/>
          </a:p>
        </p:txBody>
      </p:sp>
      <p:sp>
        <p:nvSpPr>
          <p:cNvPr id="23" name="Text Box 22"/>
          <p:cNvSpPr txBox="1"/>
          <p:nvPr/>
        </p:nvSpPr>
        <p:spPr>
          <a:xfrm>
            <a:off x="3953669" y="2727722"/>
            <a:ext cx="4259263" cy="1623616"/>
          </a:xfrm>
          <a:prstGeom prst="rect">
            <a:avLst/>
          </a:prstGeom>
          <a:noFill/>
        </p:spPr>
        <p:txBody>
          <a:bodyPr wrap="square" rtlCol="0">
            <a:noAutofit/>
          </a:bodyPr>
          <a:p>
            <a:pPr algn="l"/>
            <a:r>
              <a:rPr lang="en-US" altLang="en-US" sz="1500" b="1"/>
              <a:t> Core Feature:</a:t>
            </a:r>
            <a:endParaRPr lang="en-US" altLang="en-US" sz="1500" b="1"/>
          </a:p>
          <a:p>
            <a:pPr algn="l"/>
            <a:endParaRPr lang="en-US" altLang="en-US" sz="1000" b="1"/>
          </a:p>
          <a:p>
            <a:pPr algn="l"/>
            <a:r>
              <a:rPr lang="en-US" altLang="en-US" sz="1125"/>
              <a:t>▸Sequential development process</a:t>
            </a:r>
            <a:endParaRPr lang="en-US" altLang="en-US" sz="1125"/>
          </a:p>
          <a:p>
            <a:pPr algn="l"/>
            <a:r>
              <a:rPr lang="en-US" altLang="en-US" sz="1250">
                <a:sym typeface="+mn-ea"/>
              </a:rPr>
              <a:t>▸</a:t>
            </a:r>
            <a:r>
              <a:rPr lang="en-US" altLang="en-US" sz="1250"/>
              <a:t>Fixed and well-defined requirements</a:t>
            </a:r>
            <a:endParaRPr lang="en-US" altLang="en-US" sz="1250"/>
          </a:p>
          <a:p>
            <a:pPr algn="l"/>
            <a:r>
              <a:rPr lang="en-US" altLang="en-US" sz="1250">
                <a:sym typeface="+mn-ea"/>
              </a:rPr>
              <a:t>▸</a:t>
            </a:r>
            <a:r>
              <a:rPr lang="en-US" altLang="en-US" sz="1250"/>
              <a:t>Each phase must be completed before the next starts</a:t>
            </a:r>
            <a:endParaRPr lang="en-US" altLang="en-US" sz="1250"/>
          </a:p>
          <a:p>
            <a:pPr algn="l"/>
            <a:r>
              <a:rPr lang="en-US" altLang="en-US" sz="1250">
                <a:sym typeface="+mn-ea"/>
              </a:rPr>
              <a:t>▸</a:t>
            </a:r>
            <a:r>
              <a:rPr lang="en-US" altLang="en-US" sz="1250"/>
              <a:t>Minimal customer involvement after requirements gathering</a:t>
            </a:r>
            <a:endParaRPr lang="en-US" altLang="en-US" sz="1250"/>
          </a:p>
        </p:txBody>
      </p:sp>
      <p:sp>
        <p:nvSpPr>
          <p:cNvPr id="25" name="Text Box 24"/>
          <p:cNvSpPr txBox="1"/>
          <p:nvPr/>
        </p:nvSpPr>
        <p:spPr>
          <a:xfrm>
            <a:off x="3953669" y="4351338"/>
            <a:ext cx="4259263" cy="1339453"/>
          </a:xfrm>
          <a:prstGeom prst="rect">
            <a:avLst/>
          </a:prstGeom>
          <a:noFill/>
        </p:spPr>
        <p:txBody>
          <a:bodyPr wrap="square" rtlCol="0">
            <a:noAutofit/>
          </a:bodyPr>
          <a:p>
            <a:r>
              <a:rPr lang="en-US" altLang="en-US" sz="1500"/>
              <a:t>Advantages:</a:t>
            </a:r>
            <a:endParaRPr lang="en-US" altLang="en-US" sz="1500"/>
          </a:p>
          <a:p>
            <a:endParaRPr lang="en-US" altLang="en-US" sz="1500"/>
          </a:p>
          <a:p>
            <a:r>
              <a:rPr lang="en-US" altLang="en-US" sz="1250"/>
              <a:t>▸Simple and easy to understand</a:t>
            </a:r>
            <a:endParaRPr lang="en-US" altLang="en-US" sz="1250"/>
          </a:p>
          <a:p>
            <a:r>
              <a:rPr lang="en-US" altLang="en-US" sz="1250">
                <a:sym typeface="+mn-ea"/>
              </a:rPr>
              <a:t>▸</a:t>
            </a:r>
            <a:r>
              <a:rPr lang="en-US" altLang="en-US" sz="1250"/>
              <a:t>Easy to manage due to clear phases</a:t>
            </a:r>
            <a:endParaRPr lang="en-US" altLang="en-US" sz="1250"/>
          </a:p>
          <a:p>
            <a:r>
              <a:rPr lang="en-US" altLang="en-US" sz="1250">
                <a:sym typeface="+mn-ea"/>
              </a:rPr>
              <a:t>▸</a:t>
            </a:r>
            <a:r>
              <a:rPr lang="en-US" altLang="en-US" sz="1250"/>
              <a:t>Well suited for small projects with stable requirements</a:t>
            </a:r>
            <a:endParaRPr lang="en-US" altLang="en-US" sz="1250"/>
          </a:p>
          <a:p>
            <a:r>
              <a:rPr lang="en-US" altLang="en-US" sz="1250">
                <a:sym typeface="+mn-ea"/>
              </a:rPr>
              <a:t>▸</a:t>
            </a:r>
            <a:r>
              <a:rPr lang="en-US" altLang="en-US" sz="1250"/>
              <a:t>Good documentation throughout the project</a:t>
            </a:r>
            <a:endParaRPr lang="en-US" altLang="en-US" sz="12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Rounded Rectangle 18"/>
          <p:cNvSpPr/>
          <p:nvPr/>
        </p:nvSpPr>
        <p:spPr>
          <a:xfrm>
            <a:off x="3588147" y="1433909"/>
            <a:ext cx="5016103" cy="5154216"/>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5"/>
          </a:p>
        </p:txBody>
      </p:sp>
      <p:sp>
        <p:nvSpPr>
          <p:cNvPr id="20" name="Text Box 19"/>
          <p:cNvSpPr txBox="1"/>
          <p:nvPr/>
        </p:nvSpPr>
        <p:spPr>
          <a:xfrm>
            <a:off x="3966567" y="1816100"/>
            <a:ext cx="4259263" cy="1408906"/>
          </a:xfrm>
          <a:prstGeom prst="rect">
            <a:avLst/>
          </a:prstGeom>
          <a:noFill/>
        </p:spPr>
        <p:txBody>
          <a:bodyPr wrap="square" rtlCol="0">
            <a:noAutofit/>
          </a:bodyPr>
          <a:p>
            <a:r>
              <a:rPr lang="en-US" altLang="en-US" sz="1500"/>
              <a:t>The Iterative Model is an SDLC approach where the software is developed and improved through repeated cycles (iterations). Each iteration adds new features and improves the existing system.</a:t>
            </a:r>
            <a:endParaRPr lang="en-US" altLang="en-US" sz="1500"/>
          </a:p>
        </p:txBody>
      </p:sp>
      <p:sp>
        <p:nvSpPr>
          <p:cNvPr id="23" name="Text Box 22"/>
          <p:cNvSpPr txBox="1"/>
          <p:nvPr/>
        </p:nvSpPr>
        <p:spPr>
          <a:xfrm>
            <a:off x="3966567" y="2980928"/>
            <a:ext cx="4259263" cy="1468438"/>
          </a:xfrm>
          <a:prstGeom prst="rect">
            <a:avLst/>
          </a:prstGeom>
          <a:noFill/>
        </p:spPr>
        <p:txBody>
          <a:bodyPr wrap="square" rtlCol="0">
            <a:noAutofit/>
          </a:bodyPr>
          <a:p>
            <a:r>
              <a:rPr lang="en-US" altLang="en-US" sz="1500" b="1"/>
              <a:t>Core Features:</a:t>
            </a:r>
            <a:endParaRPr lang="en-US" altLang="en-US" sz="1500" b="1"/>
          </a:p>
          <a:p>
            <a:r>
              <a:rPr lang="en-US" altLang="en-US" sz="1500"/>
              <a:t>▸Development in multiple iterations</a:t>
            </a:r>
            <a:endParaRPr lang="en-US" altLang="en-US" sz="1500"/>
          </a:p>
          <a:p>
            <a:r>
              <a:rPr lang="en-US" altLang="en-US" sz="1500">
                <a:sym typeface="+mn-ea"/>
              </a:rPr>
              <a:t>▸</a:t>
            </a:r>
            <a:r>
              <a:rPr lang="en-US" altLang="en-US" sz="1500"/>
              <a:t>Continuous testing and feedback</a:t>
            </a:r>
            <a:endParaRPr lang="en-US" altLang="en-US" sz="1500"/>
          </a:p>
          <a:p>
            <a:r>
              <a:rPr lang="en-US" altLang="en-US" sz="1500">
                <a:sym typeface="+mn-ea"/>
              </a:rPr>
              <a:t>▸</a:t>
            </a:r>
            <a:r>
              <a:rPr lang="en-US" altLang="en-US" sz="1500"/>
              <a:t>Requirements can evolve over time</a:t>
            </a:r>
            <a:endParaRPr lang="en-US" altLang="en-US" sz="1500"/>
          </a:p>
          <a:p>
            <a:r>
              <a:rPr lang="en-US" altLang="en-US" sz="1500">
                <a:sym typeface="+mn-ea"/>
              </a:rPr>
              <a:t>▸</a:t>
            </a:r>
            <a:r>
              <a:rPr lang="en-US" altLang="en-US" sz="1500"/>
              <a:t>Each iteration produces a working version</a:t>
            </a:r>
            <a:endParaRPr lang="en-US" altLang="en-US" sz="1500"/>
          </a:p>
        </p:txBody>
      </p:sp>
      <p:sp>
        <p:nvSpPr>
          <p:cNvPr id="8" name="Text Box 7"/>
          <p:cNvSpPr txBox="1"/>
          <p:nvPr/>
        </p:nvSpPr>
        <p:spPr>
          <a:xfrm>
            <a:off x="5220494" y="696913"/>
            <a:ext cx="1751409" cy="260350"/>
          </a:xfrm>
          <a:prstGeom prst="rect">
            <a:avLst/>
          </a:prstGeom>
          <a:solidFill>
            <a:schemeClr val="tx2">
              <a:lumMod val="20000"/>
              <a:lumOff val="80000"/>
            </a:schemeClr>
          </a:solidFill>
        </p:spPr>
        <p:txBody>
          <a:bodyPr wrap="square" rtlCol="0">
            <a:noAutofit/>
          </a:bodyPr>
          <a:p>
            <a:r>
              <a:rPr lang="en-US" altLang="en-US" sz="1405" b="1"/>
              <a:t>B. Iterative Model</a:t>
            </a:r>
            <a:endParaRPr lang="en-US" altLang="en-US" sz="1405" b="1"/>
          </a:p>
        </p:txBody>
      </p:sp>
      <p:sp>
        <p:nvSpPr>
          <p:cNvPr id="3" name="Text Box 2"/>
          <p:cNvSpPr txBox="1"/>
          <p:nvPr/>
        </p:nvSpPr>
        <p:spPr>
          <a:xfrm>
            <a:off x="4292600" y="4429919"/>
            <a:ext cx="3607197" cy="1716484"/>
          </a:xfrm>
          <a:prstGeom prst="rect">
            <a:avLst/>
          </a:prstGeom>
          <a:noFill/>
        </p:spPr>
        <p:txBody>
          <a:bodyPr wrap="square" rtlCol="0">
            <a:noAutofit/>
          </a:bodyPr>
          <a:p>
            <a:r>
              <a:rPr lang="en-US" altLang="en-US" sz="1500" b="1"/>
              <a:t>Advantages:</a:t>
            </a:r>
            <a:endParaRPr lang="en-US" altLang="en-US" sz="1500" b="1"/>
          </a:p>
          <a:p>
            <a:r>
              <a:rPr lang="en-US" altLang="en-US" sz="1500">
                <a:sym typeface="+mn-ea"/>
              </a:rPr>
              <a:t>▸</a:t>
            </a:r>
            <a:r>
              <a:rPr lang="en-US" altLang="en-US" sz="1500"/>
              <a:t>Early detection of defects</a:t>
            </a:r>
            <a:endParaRPr lang="en-US" altLang="en-US" sz="1500"/>
          </a:p>
          <a:p>
            <a:r>
              <a:rPr lang="en-US" altLang="en-US" sz="1500">
                <a:sym typeface="+mn-ea"/>
              </a:rPr>
              <a:t>▸</a:t>
            </a:r>
            <a:r>
              <a:rPr lang="en-US" altLang="en-US" sz="1500"/>
              <a:t>Easy to accommodate changing requirements</a:t>
            </a:r>
            <a:endParaRPr lang="en-US" altLang="en-US" sz="1500"/>
          </a:p>
          <a:p>
            <a:r>
              <a:rPr lang="en-US" altLang="en-US" sz="1500">
                <a:sym typeface="+mn-ea"/>
              </a:rPr>
              <a:t>▸</a:t>
            </a:r>
            <a:r>
              <a:rPr lang="en-US" altLang="en-US" sz="1500"/>
              <a:t>Faster delivery of usable software</a:t>
            </a:r>
            <a:endParaRPr lang="en-US" altLang="en-US" sz="1500"/>
          </a:p>
          <a:p>
            <a:r>
              <a:rPr lang="en-US" altLang="en-US" sz="1500">
                <a:sym typeface="+mn-ea"/>
              </a:rPr>
              <a:t>▸</a:t>
            </a:r>
            <a:r>
              <a:rPr lang="en-US" altLang="en-US" sz="1500"/>
              <a:t>Continuous improvement based on feedback</a:t>
            </a:r>
            <a:endParaRPr lang="en-US" altLang="en-US"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5354638" y="660400"/>
            <a:ext cx="1483122" cy="296863"/>
          </a:xfrm>
          <a:prstGeom prst="rect">
            <a:avLst/>
          </a:prstGeom>
          <a:solidFill>
            <a:schemeClr val="tx2">
              <a:lumMod val="20000"/>
              <a:lumOff val="80000"/>
            </a:schemeClr>
          </a:solidFill>
        </p:spPr>
        <p:txBody>
          <a:bodyPr wrap="square" rtlCol="0">
            <a:noAutofit/>
          </a:bodyPr>
          <a:p>
            <a:pPr algn="ctr"/>
            <a:r>
              <a:rPr lang="en-US" altLang="en-US" sz="1405" b="1"/>
              <a:t>C.Spiral Model</a:t>
            </a:r>
            <a:endParaRPr lang="en-US" altLang="en-US" sz="1405" b="1"/>
          </a:p>
        </p:txBody>
      </p:sp>
      <p:sp>
        <p:nvSpPr>
          <p:cNvPr id="19" name="Rounded Rectangle 18"/>
          <p:cNvSpPr/>
          <p:nvPr/>
        </p:nvSpPr>
        <p:spPr>
          <a:xfrm>
            <a:off x="3588147" y="1433909"/>
            <a:ext cx="5016103" cy="4668044"/>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5"/>
          </a:p>
        </p:txBody>
      </p:sp>
      <p:sp>
        <p:nvSpPr>
          <p:cNvPr id="20" name="Text Box 19"/>
          <p:cNvSpPr txBox="1"/>
          <p:nvPr/>
        </p:nvSpPr>
        <p:spPr>
          <a:xfrm>
            <a:off x="3966567" y="2122884"/>
            <a:ext cx="4259263" cy="1152922"/>
          </a:xfrm>
          <a:prstGeom prst="rect">
            <a:avLst/>
          </a:prstGeom>
          <a:noFill/>
        </p:spPr>
        <p:txBody>
          <a:bodyPr wrap="square" rtlCol="0">
            <a:noAutofit/>
          </a:bodyPr>
          <a:p>
            <a:r>
              <a:rPr lang="en-US" altLang="en-US" sz="1500"/>
              <a:t>The Spiral Model is a risk-driven SDLC model that combines iterative development with risk analysis to reduce project risks throughout development.</a:t>
            </a:r>
            <a:endParaRPr lang="en-US" altLang="en-US" sz="1500"/>
          </a:p>
        </p:txBody>
      </p:sp>
      <p:sp>
        <p:nvSpPr>
          <p:cNvPr id="23" name="Text Box 22"/>
          <p:cNvSpPr txBox="1"/>
          <p:nvPr/>
        </p:nvSpPr>
        <p:spPr>
          <a:xfrm>
            <a:off x="3966567" y="3275806"/>
            <a:ext cx="4259263" cy="1229519"/>
          </a:xfrm>
          <a:prstGeom prst="rect">
            <a:avLst/>
          </a:prstGeom>
          <a:noFill/>
        </p:spPr>
        <p:txBody>
          <a:bodyPr wrap="square" rtlCol="0">
            <a:noAutofit/>
          </a:bodyPr>
          <a:p>
            <a:r>
              <a:rPr lang="en-US" altLang="en-US" sz="1500" b="1"/>
              <a:t>Core Features:</a:t>
            </a:r>
            <a:endParaRPr lang="en-US" altLang="en-US" sz="1500" b="1"/>
          </a:p>
          <a:p>
            <a:r>
              <a:rPr lang="en-US" altLang="en-US" sz="1125"/>
              <a:t>▸Risk analysis in every cycle</a:t>
            </a:r>
            <a:endParaRPr lang="en-US" altLang="en-US" sz="1125"/>
          </a:p>
          <a:p>
            <a:r>
              <a:rPr lang="en-US" altLang="en-US" sz="1125">
                <a:sym typeface="+mn-ea"/>
              </a:rPr>
              <a:t>▸</a:t>
            </a:r>
            <a:r>
              <a:rPr lang="en-US" altLang="en-US" sz="1125"/>
              <a:t>Iterative development</a:t>
            </a:r>
            <a:endParaRPr lang="en-US" altLang="en-US" sz="1125"/>
          </a:p>
          <a:p>
            <a:r>
              <a:rPr lang="en-US" altLang="en-US" sz="1125">
                <a:sym typeface="+mn-ea"/>
              </a:rPr>
              <a:t>▸</a:t>
            </a:r>
            <a:r>
              <a:rPr lang="en-US" altLang="en-US" sz="1125"/>
              <a:t>Customer evaluation after each phase</a:t>
            </a:r>
            <a:endParaRPr lang="en-US" altLang="en-US" sz="1125"/>
          </a:p>
          <a:p>
            <a:r>
              <a:rPr lang="en-US" altLang="en-US" sz="1125">
                <a:sym typeface="+mn-ea"/>
              </a:rPr>
              <a:t>▸</a:t>
            </a:r>
            <a:r>
              <a:rPr lang="en-US" altLang="en-US" sz="1125"/>
              <a:t>Suitable for large and complex projects</a:t>
            </a:r>
            <a:endParaRPr lang="en-US" altLang="en-US" sz="1125"/>
          </a:p>
        </p:txBody>
      </p:sp>
      <p:sp>
        <p:nvSpPr>
          <p:cNvPr id="2" name="Text Box 1"/>
          <p:cNvSpPr txBox="1"/>
          <p:nvPr/>
        </p:nvSpPr>
        <p:spPr>
          <a:xfrm>
            <a:off x="4139406" y="4459684"/>
            <a:ext cx="3913584" cy="1061244"/>
          </a:xfrm>
          <a:prstGeom prst="rect">
            <a:avLst/>
          </a:prstGeom>
          <a:noFill/>
        </p:spPr>
        <p:txBody>
          <a:bodyPr wrap="square" rtlCol="0">
            <a:noAutofit/>
          </a:bodyPr>
          <a:p>
            <a:r>
              <a:rPr lang="en-US" altLang="en-US" sz="1500" b="1"/>
              <a:t>Advantages:</a:t>
            </a:r>
            <a:endParaRPr lang="en-US" altLang="en-US" sz="1500" b="1"/>
          </a:p>
          <a:p>
            <a:r>
              <a:rPr lang="en-US" altLang="en-US" sz="1125">
                <a:sym typeface="+mn-ea"/>
              </a:rPr>
              <a:t>▸</a:t>
            </a:r>
            <a:r>
              <a:rPr lang="en-US" altLang="en-US" sz="1125"/>
              <a:t>Excellent risk management</a:t>
            </a:r>
            <a:endParaRPr lang="en-US" altLang="en-US" sz="1125"/>
          </a:p>
          <a:p>
            <a:r>
              <a:rPr lang="en-US" altLang="en-US" sz="1125">
                <a:sym typeface="+mn-ea"/>
              </a:rPr>
              <a:t>▸</a:t>
            </a:r>
            <a:r>
              <a:rPr lang="en-US" altLang="en-US" sz="1125"/>
              <a:t>Flexible to changing requirements</a:t>
            </a:r>
            <a:endParaRPr lang="en-US" altLang="en-US" sz="1125"/>
          </a:p>
          <a:p>
            <a:r>
              <a:rPr lang="en-US" altLang="en-US" sz="1125">
                <a:sym typeface="+mn-ea"/>
              </a:rPr>
              <a:t>▸</a:t>
            </a:r>
            <a:r>
              <a:rPr lang="en-US" altLang="en-US" sz="1125"/>
              <a:t>High-quality software through continuous evaluation</a:t>
            </a:r>
            <a:endParaRPr lang="en-US" altLang="en-US" sz="1125"/>
          </a:p>
          <a:p>
            <a:r>
              <a:rPr lang="en-US" altLang="en-US" sz="1125">
                <a:sym typeface="+mn-ea"/>
              </a:rPr>
              <a:t>▸</a:t>
            </a:r>
            <a:r>
              <a:rPr lang="en-US" altLang="en-US" sz="1125"/>
              <a:t>Ideal for large and high-risk projects</a:t>
            </a:r>
            <a:endParaRPr lang="en-US" altLang="en-US" sz="112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5118933" y="607695"/>
            <a:ext cx="1954530" cy="472440"/>
          </a:xfrm>
          <a:prstGeom prst="rect">
            <a:avLst/>
          </a:prstGeom>
          <a:solidFill>
            <a:schemeClr val="tx2">
              <a:lumMod val="20000"/>
              <a:lumOff val="80000"/>
            </a:schemeClr>
          </a:solidFill>
        </p:spPr>
        <p:txBody>
          <a:bodyPr wrap="square" rtlCol="0">
            <a:noAutofit/>
          </a:bodyPr>
          <a:p>
            <a:pPr algn="ctr"/>
            <a:r>
              <a:rPr lang="en-US" altLang="en-US" sz="1405" b="1"/>
              <a:t>D.Agile Model</a:t>
            </a:r>
            <a:endParaRPr lang="en-US" altLang="en-US" sz="1405" b="1"/>
          </a:p>
        </p:txBody>
      </p:sp>
      <p:sp>
        <p:nvSpPr>
          <p:cNvPr id="19" name="Rounded Rectangle 18"/>
          <p:cNvSpPr/>
          <p:nvPr/>
        </p:nvSpPr>
        <p:spPr>
          <a:xfrm>
            <a:off x="3588147" y="1433909"/>
            <a:ext cx="5016103" cy="4668044"/>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5"/>
          </a:p>
        </p:txBody>
      </p:sp>
      <p:sp>
        <p:nvSpPr>
          <p:cNvPr id="20" name="Text Box 19"/>
          <p:cNvSpPr txBox="1"/>
          <p:nvPr/>
        </p:nvSpPr>
        <p:spPr>
          <a:xfrm>
            <a:off x="3966567" y="2122884"/>
            <a:ext cx="4259263" cy="1306116"/>
          </a:xfrm>
          <a:prstGeom prst="rect">
            <a:avLst/>
          </a:prstGeom>
          <a:noFill/>
        </p:spPr>
        <p:txBody>
          <a:bodyPr wrap="square" rtlCol="0">
            <a:noAutofit/>
          </a:bodyPr>
          <a:p>
            <a:r>
              <a:rPr lang="en-US" altLang="en-US" sz="1500"/>
              <a:t>The Agile Model is an iterative and incremental software development approach that delivers software in small, frequent releases while encouraging continuous customer collaboration.</a:t>
            </a:r>
            <a:endParaRPr lang="en-US" altLang="en-US" sz="1500"/>
          </a:p>
        </p:txBody>
      </p:sp>
      <p:sp>
        <p:nvSpPr>
          <p:cNvPr id="23" name="Text Box 22"/>
          <p:cNvSpPr txBox="1"/>
          <p:nvPr/>
        </p:nvSpPr>
        <p:spPr>
          <a:xfrm>
            <a:off x="3966567" y="3531394"/>
            <a:ext cx="4259263" cy="1139428"/>
          </a:xfrm>
          <a:prstGeom prst="rect">
            <a:avLst/>
          </a:prstGeom>
          <a:noFill/>
        </p:spPr>
        <p:txBody>
          <a:bodyPr wrap="square" rtlCol="0">
            <a:noAutofit/>
          </a:bodyPr>
          <a:p>
            <a:r>
              <a:rPr lang="en-US" altLang="en-US" sz="1500" b="1"/>
              <a:t>Core Features:</a:t>
            </a:r>
            <a:endParaRPr lang="en-US" altLang="en-US" sz="1500" b="1"/>
          </a:p>
          <a:p>
            <a:r>
              <a:rPr lang="en-US" altLang="en-US" sz="1125">
                <a:sym typeface="+mn-ea"/>
              </a:rPr>
              <a:t>▸</a:t>
            </a:r>
            <a:r>
              <a:rPr lang="en-US" altLang="en-US" sz="1125"/>
              <a:t>Short development cycles (sprints)</a:t>
            </a:r>
            <a:endParaRPr lang="en-US" altLang="en-US" sz="1125"/>
          </a:p>
          <a:p>
            <a:r>
              <a:rPr lang="en-US" altLang="en-US" sz="1125">
                <a:sym typeface="+mn-ea"/>
              </a:rPr>
              <a:t>▸</a:t>
            </a:r>
            <a:r>
              <a:rPr lang="en-US" altLang="en-US" sz="1125"/>
              <a:t>Continuous customer feedback</a:t>
            </a:r>
            <a:endParaRPr lang="en-US" altLang="en-US" sz="1125"/>
          </a:p>
          <a:p>
            <a:r>
              <a:rPr lang="en-US" altLang="en-US" sz="1125">
                <a:sym typeface="+mn-ea"/>
              </a:rPr>
              <a:t>▸</a:t>
            </a:r>
            <a:r>
              <a:rPr lang="en-US" altLang="en-US" sz="1125"/>
              <a:t>Frequent software releases</a:t>
            </a:r>
            <a:endParaRPr lang="en-US" altLang="en-US" sz="1125"/>
          </a:p>
          <a:p>
            <a:r>
              <a:rPr lang="en-US" altLang="en-US" sz="1125">
                <a:sym typeface="+mn-ea"/>
              </a:rPr>
              <a:t>▸</a:t>
            </a:r>
            <a:r>
              <a:rPr lang="en-US" altLang="en-US" sz="1125"/>
              <a:t>Collaborative teamwork</a:t>
            </a:r>
            <a:endParaRPr lang="en-US" altLang="en-US" sz="1125"/>
          </a:p>
        </p:txBody>
      </p:sp>
      <p:sp>
        <p:nvSpPr>
          <p:cNvPr id="2" name="Text Box 1"/>
          <p:cNvSpPr txBox="1"/>
          <p:nvPr/>
        </p:nvSpPr>
        <p:spPr>
          <a:xfrm>
            <a:off x="3993356" y="4702175"/>
            <a:ext cx="4205684" cy="1095772"/>
          </a:xfrm>
          <a:prstGeom prst="rect">
            <a:avLst/>
          </a:prstGeom>
          <a:noFill/>
        </p:spPr>
        <p:txBody>
          <a:bodyPr wrap="square" rtlCol="0">
            <a:noAutofit/>
          </a:bodyPr>
          <a:p>
            <a:r>
              <a:rPr lang="en-US" altLang="en-US" sz="1500" b="1"/>
              <a:t>Advantages:</a:t>
            </a:r>
            <a:endParaRPr lang="en-US" altLang="en-US" sz="1500" b="1"/>
          </a:p>
          <a:p>
            <a:r>
              <a:rPr lang="en-US" altLang="en-US" sz="1125">
                <a:sym typeface="+mn-ea"/>
              </a:rPr>
              <a:t>▸</a:t>
            </a:r>
            <a:r>
              <a:rPr lang="en-US" altLang="en-US" sz="1125"/>
              <a:t>Fast delivery of working software</a:t>
            </a:r>
            <a:endParaRPr lang="en-US" altLang="en-US" sz="1125"/>
          </a:p>
          <a:p>
            <a:r>
              <a:rPr lang="en-US" altLang="en-US" sz="1125">
                <a:sym typeface="+mn-ea"/>
              </a:rPr>
              <a:t>▸</a:t>
            </a:r>
            <a:r>
              <a:rPr lang="en-US" altLang="en-US" sz="1125"/>
              <a:t>Quickly adapts to changing requirements</a:t>
            </a:r>
            <a:endParaRPr lang="en-US" altLang="en-US" sz="1125"/>
          </a:p>
          <a:p>
            <a:r>
              <a:rPr lang="en-US" altLang="en-US" sz="1125">
                <a:sym typeface="+mn-ea"/>
              </a:rPr>
              <a:t>▸</a:t>
            </a:r>
            <a:r>
              <a:rPr lang="en-US" altLang="en-US" sz="1125"/>
              <a:t>High customer satisfaction</a:t>
            </a:r>
            <a:endParaRPr lang="en-US" altLang="en-US" sz="1125"/>
          </a:p>
          <a:p>
            <a:r>
              <a:rPr lang="en-US" altLang="en-US" sz="1125">
                <a:sym typeface="+mn-ea"/>
              </a:rPr>
              <a:t>▸I</a:t>
            </a:r>
            <a:r>
              <a:rPr lang="en-US" altLang="en-US" sz="1125"/>
              <a:t>mproved team collaboration</a:t>
            </a:r>
            <a:endParaRPr lang="en-US" altLang="en-US" sz="112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5133340" y="683816"/>
            <a:ext cx="1905000" cy="307975"/>
          </a:xfrm>
          <a:prstGeom prst="rect">
            <a:avLst/>
          </a:prstGeom>
          <a:solidFill>
            <a:schemeClr val="tx2">
              <a:lumMod val="20000"/>
              <a:lumOff val="80000"/>
            </a:schemeClr>
          </a:solidFill>
        </p:spPr>
        <p:txBody>
          <a:bodyPr wrap="square" rtlCol="0">
            <a:spAutoFit/>
          </a:bodyPr>
          <a:p>
            <a:r>
              <a:rPr lang="en-US" altLang="en-US" sz="1405" b="1"/>
              <a:t>E. DevOps Model</a:t>
            </a:r>
            <a:endParaRPr lang="en-US" altLang="en-US" sz="1405" b="1"/>
          </a:p>
        </p:txBody>
      </p:sp>
      <p:sp>
        <p:nvSpPr>
          <p:cNvPr id="19" name="Rounded Rectangle 18"/>
          <p:cNvSpPr/>
          <p:nvPr/>
        </p:nvSpPr>
        <p:spPr>
          <a:xfrm>
            <a:off x="3288030" y="1433830"/>
            <a:ext cx="5316220" cy="4667885"/>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5"/>
          </a:p>
        </p:txBody>
      </p:sp>
      <p:sp>
        <p:nvSpPr>
          <p:cNvPr id="20" name="Text Box 19"/>
          <p:cNvSpPr txBox="1"/>
          <p:nvPr/>
        </p:nvSpPr>
        <p:spPr>
          <a:xfrm>
            <a:off x="3956209" y="2122884"/>
            <a:ext cx="4259263" cy="1953419"/>
          </a:xfrm>
          <a:prstGeom prst="rect">
            <a:avLst/>
          </a:prstGeom>
          <a:noFill/>
        </p:spPr>
        <p:txBody>
          <a:bodyPr wrap="square" rtlCol="0">
            <a:noAutofit/>
          </a:bodyPr>
          <a:p>
            <a:r>
              <a:rPr lang="en-US" altLang="en-US" sz="1500"/>
              <a:t>The DevOps Model is an SDLC approach that integrates development and operations teams to automate software delivery and improve collaboration.</a:t>
            </a:r>
            <a:endParaRPr lang="en-US" altLang="en-US" sz="1500"/>
          </a:p>
        </p:txBody>
      </p:sp>
      <p:sp>
        <p:nvSpPr>
          <p:cNvPr id="23" name="Text Box 22"/>
          <p:cNvSpPr txBox="1"/>
          <p:nvPr/>
        </p:nvSpPr>
        <p:spPr>
          <a:xfrm>
            <a:off x="3956209" y="3186113"/>
            <a:ext cx="4259263" cy="1267619"/>
          </a:xfrm>
          <a:prstGeom prst="rect">
            <a:avLst/>
          </a:prstGeom>
          <a:noFill/>
        </p:spPr>
        <p:txBody>
          <a:bodyPr wrap="square" rtlCol="0">
            <a:noAutofit/>
          </a:bodyPr>
          <a:p>
            <a:r>
              <a:rPr lang="en-US" altLang="en-US" sz="1500" b="1"/>
              <a:t>Core Features:</a:t>
            </a:r>
            <a:endParaRPr lang="en-US" altLang="en-US" sz="1500" b="1"/>
          </a:p>
          <a:p>
            <a:r>
              <a:rPr lang="en-US" altLang="en-US" sz="1125">
                <a:sym typeface="+mn-ea"/>
              </a:rPr>
              <a:t>▸</a:t>
            </a:r>
            <a:r>
              <a:rPr lang="en-US" altLang="en-US" sz="1125"/>
              <a:t>Development and operations collaboration</a:t>
            </a:r>
            <a:endParaRPr lang="en-US" altLang="en-US" sz="1125"/>
          </a:p>
          <a:p>
            <a:r>
              <a:rPr lang="en-US" altLang="en-US" sz="1125">
                <a:sym typeface="+mn-ea"/>
              </a:rPr>
              <a:t>▸</a:t>
            </a:r>
            <a:r>
              <a:rPr lang="en-US" altLang="en-US" sz="1125"/>
              <a:t>Automation of testing and deployment</a:t>
            </a:r>
            <a:endParaRPr lang="en-US" altLang="en-US" sz="1125"/>
          </a:p>
          <a:p>
            <a:r>
              <a:rPr lang="en-US" altLang="en-US" sz="1125">
                <a:sym typeface="+mn-ea"/>
              </a:rPr>
              <a:t>▸</a:t>
            </a:r>
            <a:r>
              <a:rPr lang="en-US" altLang="en-US" sz="1125"/>
              <a:t>Continuous Integration and Continuous Deployment (CI/CD)</a:t>
            </a:r>
            <a:endParaRPr lang="en-US" altLang="en-US" sz="1125"/>
          </a:p>
          <a:p>
            <a:r>
              <a:rPr lang="en-US" altLang="en-US" sz="1125">
                <a:sym typeface="+mn-ea"/>
              </a:rPr>
              <a:t>▸</a:t>
            </a:r>
            <a:r>
              <a:rPr lang="en-US" altLang="en-US" sz="1125"/>
              <a:t>Continuous monitoring and feedback</a:t>
            </a:r>
            <a:endParaRPr lang="en-US" altLang="en-US" sz="1125"/>
          </a:p>
        </p:txBody>
      </p:sp>
      <p:sp>
        <p:nvSpPr>
          <p:cNvPr id="2" name="Text Box 1"/>
          <p:cNvSpPr txBox="1"/>
          <p:nvPr/>
        </p:nvSpPr>
        <p:spPr>
          <a:xfrm>
            <a:off x="4002048" y="4250928"/>
            <a:ext cx="4167584" cy="1017270"/>
          </a:xfrm>
          <a:prstGeom prst="rect">
            <a:avLst/>
          </a:prstGeom>
          <a:noFill/>
        </p:spPr>
        <p:txBody>
          <a:bodyPr wrap="square" rtlCol="0">
            <a:spAutoFit/>
          </a:bodyPr>
          <a:p>
            <a:r>
              <a:rPr lang="en-US" altLang="en-US" sz="1500" b="1"/>
              <a:t>Advantages:</a:t>
            </a:r>
            <a:endParaRPr lang="en-US" altLang="en-US" sz="1500" b="1"/>
          </a:p>
          <a:p>
            <a:r>
              <a:rPr lang="en-US" altLang="en-US" sz="1125">
                <a:sym typeface="+mn-ea"/>
              </a:rPr>
              <a:t>▸</a:t>
            </a:r>
            <a:r>
              <a:rPr lang="en-US" altLang="en-US" sz="1125"/>
              <a:t>Faster software releases</a:t>
            </a:r>
            <a:endParaRPr lang="en-US" altLang="en-US" sz="1125"/>
          </a:p>
          <a:p>
            <a:r>
              <a:rPr lang="en-US" altLang="en-US" sz="1125">
                <a:sym typeface="+mn-ea"/>
              </a:rPr>
              <a:t>▸</a:t>
            </a:r>
            <a:r>
              <a:rPr lang="en-US" altLang="en-US" sz="1125"/>
              <a:t>Improved software quality</a:t>
            </a:r>
            <a:endParaRPr lang="en-US" altLang="en-US" sz="1125"/>
          </a:p>
          <a:p>
            <a:r>
              <a:rPr lang="en-US" altLang="en-US" sz="1125">
                <a:sym typeface="+mn-ea"/>
              </a:rPr>
              <a:t>▸</a:t>
            </a:r>
            <a:r>
              <a:rPr lang="en-US" altLang="en-US" sz="1125"/>
              <a:t>Better collaboration between teams</a:t>
            </a:r>
            <a:endParaRPr lang="en-US" altLang="en-US" sz="1125"/>
          </a:p>
          <a:p>
            <a:r>
              <a:rPr lang="en-US" altLang="en-US" sz="1125">
                <a:sym typeface="+mn-ea"/>
              </a:rPr>
              <a:t>▸</a:t>
            </a:r>
            <a:r>
              <a:rPr lang="en-US" altLang="en-US" sz="1125"/>
              <a:t>Faster identification and resolution of issues</a:t>
            </a:r>
            <a:endParaRPr lang="en-US" altLang="en-US" sz="112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2"/>
          <p:cNvGraphicFramePr/>
          <p:nvPr>
            <p:custDataLst>
              <p:tags r:id="rId1"/>
            </p:custDataLst>
          </p:nvPr>
        </p:nvGraphicFramePr>
        <p:xfrm>
          <a:off x="180975" y="1753235"/>
          <a:ext cx="11358880" cy="4765040"/>
        </p:xfrm>
        <a:graphic>
          <a:graphicData uri="http://schemas.openxmlformats.org/drawingml/2006/table">
            <a:tbl>
              <a:tblPr/>
              <a:tblGrid>
                <a:gridCol w="2839720"/>
                <a:gridCol w="2839720"/>
                <a:gridCol w="2839720"/>
                <a:gridCol w="2839720"/>
              </a:tblGrid>
              <a:tr h="291465">
                <a:tc>
                  <a:txBody>
                    <a:bodyPr/>
                    <a:p>
                      <a:r>
                        <a:rPr sz="1600" b="1"/>
                        <a:t>Methodology</a:t>
                      </a:r>
                      <a:endParaRPr sz="1600" b="1"/>
                    </a:p>
                  </a:txBody>
                  <a:tcPr marL="0" marR="0" marT="0" marB="0" anchor="ctr" anchorCtr="0">
                    <a:lnL>
                      <a:noFill/>
                    </a:lnL>
                    <a:lnR>
                      <a:noFill/>
                    </a:lnR>
                    <a:lnT>
                      <a:noFill/>
                    </a:lnT>
                    <a:lnB>
                      <a:noFill/>
                    </a:lnB>
                    <a:solidFill>
                      <a:schemeClr val="tx2">
                        <a:lumMod val="20000"/>
                        <a:lumOff val="80000"/>
                      </a:schemeClr>
                    </a:solidFill>
                  </a:tcPr>
                </a:tc>
                <a:tc>
                  <a:txBody>
                    <a:bodyPr/>
                    <a:p>
                      <a:r>
                        <a:rPr sz="1600" b="1"/>
                        <a:t>Primary Focus</a:t>
                      </a:r>
                      <a:endParaRPr sz="1600" b="1"/>
                    </a:p>
                  </a:txBody>
                  <a:tcPr marL="0" marR="0" marT="0" marB="0" anchor="ctr" anchorCtr="0">
                    <a:lnL>
                      <a:noFill/>
                    </a:lnL>
                    <a:lnR>
                      <a:noFill/>
                    </a:lnR>
                    <a:lnT>
                      <a:noFill/>
                    </a:lnT>
                    <a:lnB>
                      <a:noFill/>
                    </a:lnB>
                    <a:solidFill>
                      <a:schemeClr val="tx2">
                        <a:lumMod val="20000"/>
                        <a:lumOff val="80000"/>
                      </a:schemeClr>
                    </a:solidFill>
                  </a:tcPr>
                </a:tc>
                <a:tc>
                  <a:txBody>
                    <a:bodyPr/>
                    <a:p>
                      <a:r>
                        <a:rPr sz="1600" b="1"/>
                        <a:t>Best For</a:t>
                      </a:r>
                      <a:endParaRPr sz="1600" b="1"/>
                    </a:p>
                  </a:txBody>
                  <a:tcPr marL="0" marR="0" marT="0" marB="0" anchor="ctr" anchorCtr="0">
                    <a:lnL>
                      <a:noFill/>
                    </a:lnL>
                    <a:lnR>
                      <a:noFill/>
                    </a:lnR>
                    <a:lnT>
                      <a:noFill/>
                    </a:lnT>
                    <a:lnB>
                      <a:noFill/>
                    </a:lnB>
                    <a:solidFill>
                      <a:schemeClr val="tx2">
                        <a:lumMod val="20000"/>
                        <a:lumOff val="80000"/>
                      </a:schemeClr>
                    </a:solidFill>
                  </a:tcPr>
                </a:tc>
                <a:tc>
                  <a:txBody>
                    <a:bodyPr/>
                    <a:p>
                      <a:r>
                        <a:rPr sz="1600" b="1"/>
                        <a:t>Key Difference from SDLC</a:t>
                      </a:r>
                      <a:endParaRPr sz="1600" b="1"/>
                    </a:p>
                  </a:txBody>
                  <a:tcPr marL="0" marR="0" marT="0" marB="0" anchor="ctr" anchorCtr="0">
                    <a:lnL>
                      <a:noFill/>
                    </a:lnL>
                    <a:lnR>
                      <a:noFill/>
                    </a:lnR>
                    <a:lnT>
                      <a:noFill/>
                    </a:lnT>
                    <a:lnB>
                      <a:noFill/>
                    </a:lnB>
                    <a:solidFill>
                      <a:schemeClr val="tx2">
                        <a:lumMod val="20000"/>
                        <a:lumOff val="80000"/>
                      </a:schemeClr>
                    </a:solidFill>
                  </a:tcPr>
                </a:tc>
              </a:tr>
              <a:tr h="825500">
                <a:tc>
                  <a:txBody>
                    <a:bodyPr/>
                    <a:p>
                      <a:r>
                        <a:rPr sz="1400" b="1"/>
                        <a:t>SDLC</a:t>
                      </a:r>
                      <a:endParaRPr sz="1400" b="1"/>
                    </a:p>
                  </a:txBody>
                  <a:tcPr marL="0" marR="0" marT="0" marB="0" anchor="ctr" anchorCtr="0">
                    <a:lnL>
                      <a:noFill/>
                    </a:lnL>
                    <a:lnR>
                      <a:noFill/>
                    </a:lnR>
                    <a:lnT>
                      <a:noFill/>
                    </a:lnT>
                    <a:lnB>
                      <a:noFill/>
                    </a:lnB>
                    <a:solidFill>
                      <a:schemeClr val="accent1">
                        <a:lumMod val="20000"/>
                        <a:lumOff val="80000"/>
                      </a:schemeClr>
                    </a:solidFill>
                  </a:tcPr>
                </a:tc>
                <a:tc>
                  <a:txBody>
                    <a:bodyPr/>
                    <a:p>
                      <a:r>
                        <a:rPr sz="1400"/>
                        <a:t>Software development process</a:t>
                      </a:r>
                      <a:endParaRPr sz="1400"/>
                    </a:p>
                  </a:txBody>
                  <a:tcPr marL="0" marR="0" marT="0" marB="0" anchor="ctr" anchorCtr="0">
                    <a:lnL>
                      <a:noFill/>
                    </a:lnL>
                    <a:lnR>
                      <a:noFill/>
                    </a:lnR>
                    <a:lnT>
                      <a:noFill/>
                    </a:lnT>
                    <a:lnB>
                      <a:noFill/>
                    </a:lnB>
                    <a:solidFill>
                      <a:schemeClr val="tx2">
                        <a:lumMod val="40000"/>
                        <a:lumOff val="60000"/>
                      </a:schemeClr>
                    </a:solidFill>
                  </a:tcPr>
                </a:tc>
                <a:tc>
                  <a:txBody>
                    <a:bodyPr/>
                    <a:p>
                      <a:r>
                        <a:rPr sz="1400"/>
                        <a:t>Building software applications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Defines the phases of software creation, from planning to maintenance.</a:t>
                      </a:r>
                      <a:endParaRPr sz="1400"/>
                    </a:p>
                  </a:txBody>
                  <a:tcPr marL="0" marR="0" marT="0" marB="0" anchor="ctr" anchorCtr="0">
                    <a:lnL>
                      <a:noFill/>
                    </a:lnL>
                    <a:lnR>
                      <a:noFill/>
                    </a:lnR>
                    <a:lnT>
                      <a:noFill/>
                    </a:lnT>
                    <a:lnB>
                      <a:noFill/>
                    </a:lnB>
                    <a:solidFill>
                      <a:schemeClr val="tx2">
                        <a:lumMod val="40000"/>
                        <a:lumOff val="60000"/>
                      </a:schemeClr>
                    </a:solidFill>
                  </a:tcPr>
                </a:tc>
              </a:tr>
              <a:tr h="826135">
                <a:tc>
                  <a:txBody>
                    <a:bodyPr/>
                    <a:p>
                      <a:r>
                        <a:rPr sz="1400" b="1"/>
                        <a:t>Agile</a:t>
                      </a:r>
                      <a:endParaRPr sz="1400" b="1"/>
                    </a:p>
                  </a:txBody>
                  <a:tcPr marL="0" marR="0" marT="0" marB="0" anchor="ctr" anchorCtr="0">
                    <a:lnL>
                      <a:noFill/>
                    </a:lnL>
                    <a:lnR>
                      <a:noFill/>
                    </a:lnR>
                    <a:lnT>
                      <a:noFill/>
                    </a:lnT>
                    <a:lnB>
                      <a:noFill/>
                    </a:lnB>
                    <a:solidFill>
                      <a:schemeClr val="accent1">
                        <a:lumMod val="20000"/>
                        <a:lumOff val="80000"/>
                      </a:schemeClr>
                    </a:solidFill>
                  </a:tcPr>
                </a:tc>
                <a:tc>
                  <a:txBody>
                    <a:bodyPr/>
                    <a:p>
                      <a:r>
                        <a:rPr sz="1400"/>
                        <a:t>Flexible and iterative project management</a:t>
                      </a:r>
                      <a:endParaRPr sz="1400"/>
                    </a:p>
                  </a:txBody>
                  <a:tcPr marL="0" marR="0" marT="0" marB="0" anchor="ctr" anchorCtr="0">
                    <a:lnL>
                      <a:noFill/>
                    </a:lnL>
                    <a:lnR>
                      <a:noFill/>
                    </a:lnR>
                    <a:lnT>
                      <a:noFill/>
                    </a:lnT>
                    <a:lnB>
                      <a:noFill/>
                    </a:lnB>
                    <a:solidFill>
                      <a:schemeClr val="tx2">
                        <a:lumMod val="40000"/>
                        <a:lumOff val="60000"/>
                      </a:schemeClr>
                    </a:solidFill>
                  </a:tcPr>
                </a:tc>
                <a:tc>
                  <a:txBody>
                    <a:bodyPr/>
                    <a:p>
                      <a:r>
                        <a:rPr sz="1400"/>
                        <a:t>Projects with changing requirements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Agile is a way to implement the SDLC using short development cycles (sprints).</a:t>
                      </a:r>
                      <a:endParaRPr sz="1400"/>
                    </a:p>
                  </a:txBody>
                  <a:tcPr marL="0" marR="0" marT="0" marB="0" anchor="ctr" anchorCtr="0">
                    <a:lnL>
                      <a:noFill/>
                    </a:lnL>
                    <a:lnR>
                      <a:noFill/>
                    </a:lnR>
                    <a:lnT>
                      <a:noFill/>
                    </a:lnT>
                    <a:lnB>
                      <a:noFill/>
                    </a:lnB>
                    <a:solidFill>
                      <a:schemeClr val="tx2">
                        <a:lumMod val="40000"/>
                        <a:lumOff val="60000"/>
                      </a:schemeClr>
                    </a:solidFill>
                  </a:tcPr>
                </a:tc>
              </a:tr>
              <a:tr h="1099185">
                <a:tc>
                  <a:txBody>
                    <a:bodyPr/>
                    <a:p>
                      <a:r>
                        <a:rPr sz="1400" b="1"/>
                        <a:t>Waterfall</a:t>
                      </a:r>
                      <a:endParaRPr sz="1400" b="1"/>
                    </a:p>
                  </a:txBody>
                  <a:tcPr marL="0" marR="0" marT="0" marB="0" anchor="ctr" anchorCtr="0">
                    <a:lnL>
                      <a:noFill/>
                    </a:lnL>
                    <a:lnR>
                      <a:noFill/>
                    </a:lnR>
                    <a:lnT>
                      <a:noFill/>
                    </a:lnT>
                    <a:lnB>
                      <a:noFill/>
                    </a:lnB>
                    <a:solidFill>
                      <a:schemeClr val="accent1">
                        <a:lumMod val="20000"/>
                        <a:lumOff val="80000"/>
                      </a:schemeClr>
                    </a:solidFill>
                  </a:tcPr>
                </a:tc>
                <a:tc>
                  <a:txBody>
                    <a:bodyPr/>
                    <a:p>
                      <a:r>
                        <a:rPr sz="1400"/>
                        <a:t>Sequential development</a:t>
                      </a:r>
                      <a:endParaRPr sz="1400"/>
                    </a:p>
                  </a:txBody>
                  <a:tcPr marL="0" marR="0" marT="0" marB="0" anchor="ctr" anchorCtr="0">
                    <a:lnL>
                      <a:noFill/>
                    </a:lnL>
                    <a:lnR>
                      <a:noFill/>
                    </a:lnR>
                    <a:lnT>
                      <a:noFill/>
                    </a:lnT>
                    <a:lnB>
                      <a:noFill/>
                    </a:lnB>
                    <a:solidFill>
                      <a:schemeClr val="tx2">
                        <a:lumMod val="40000"/>
                        <a:lumOff val="60000"/>
                      </a:schemeClr>
                    </a:solidFill>
                  </a:tcPr>
                </a:tc>
                <a:tc>
                  <a:txBody>
                    <a:bodyPr/>
                    <a:p>
                      <a:r>
                        <a:rPr sz="1400"/>
                        <a:t>Projects with stable requirements</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Waterfall is one SDLC model, where each phase is completed before the next begins.</a:t>
                      </a:r>
                      <a:endParaRPr sz="1400"/>
                    </a:p>
                  </a:txBody>
                  <a:tcPr marL="0" marR="0" marT="0" marB="0" anchor="ctr" anchorCtr="0">
                    <a:lnL>
                      <a:noFill/>
                    </a:lnL>
                    <a:lnR>
                      <a:noFill/>
                    </a:lnR>
                    <a:lnT>
                      <a:noFill/>
                    </a:lnT>
                    <a:lnB>
                      <a:noFill/>
                    </a:lnB>
                    <a:solidFill>
                      <a:schemeClr val="tx2">
                        <a:lumMod val="40000"/>
                        <a:lumOff val="60000"/>
                      </a:schemeClr>
                    </a:solidFill>
                  </a:tcPr>
                </a:tc>
              </a:tr>
              <a:tr h="1101090">
                <a:tc>
                  <a:txBody>
                    <a:bodyPr/>
                    <a:p>
                      <a:r>
                        <a:rPr sz="1400" b="1"/>
                        <a:t>DevOps</a:t>
                      </a:r>
                      <a:endParaRPr sz="1400" b="1"/>
                    </a:p>
                  </a:txBody>
                  <a:tcPr marL="0" marR="0" marT="0" marB="0" anchor="ctr" anchorCtr="0">
                    <a:lnL>
                      <a:noFill/>
                    </a:lnL>
                    <a:lnR>
                      <a:noFill/>
                    </a:lnR>
                    <a:lnT>
                      <a:noFill/>
                    </a:lnT>
                    <a:lnB>
                      <a:noFill/>
                    </a:lnB>
                    <a:solidFill>
                      <a:schemeClr val="accent1">
                        <a:lumMod val="20000"/>
                        <a:lumOff val="80000"/>
                      </a:schemeClr>
                    </a:solidFill>
                  </a:tcPr>
                </a:tc>
                <a:tc>
                  <a:txBody>
                    <a:bodyPr/>
                    <a:p>
                      <a:r>
                        <a:rPr sz="1400"/>
                        <a:t>Development and operations collaboration</a:t>
                      </a:r>
                      <a:endParaRPr sz="1400"/>
                    </a:p>
                  </a:txBody>
                  <a:tcPr marL="0" marR="0" marT="0" marB="0" anchor="ctr" anchorCtr="0">
                    <a:lnL>
                      <a:noFill/>
                    </a:lnL>
                    <a:lnR>
                      <a:noFill/>
                    </a:lnR>
                    <a:lnT>
                      <a:noFill/>
                    </a:lnT>
                    <a:lnB>
                      <a:noFill/>
                    </a:lnB>
                    <a:solidFill>
                      <a:schemeClr val="tx2">
                        <a:lumMod val="40000"/>
                        <a:lumOff val="60000"/>
                      </a:schemeClr>
                    </a:solidFill>
                  </a:tcPr>
                </a:tc>
                <a:tc>
                  <a:txBody>
                    <a:bodyPr/>
                    <a:p>
                      <a:r>
                        <a:rPr sz="1400"/>
                        <a:t>Continuous delivery and deployment</a:t>
                      </a:r>
                      <a:endParaRPr sz="1400"/>
                    </a:p>
                  </a:txBody>
                  <a:tcPr marL="0" marR="0" marT="0" marB="0" anchor="ctr" anchorCtr="0">
                    <a:lnL>
                      <a:noFill/>
                    </a:lnL>
                    <a:lnR>
                      <a:noFill/>
                    </a:lnR>
                    <a:lnT>
                      <a:noFill/>
                    </a:lnT>
                    <a:lnB>
                      <a:noFill/>
                    </a:lnB>
                    <a:solidFill>
                      <a:schemeClr val="accent1">
                        <a:lumMod val="40000"/>
                        <a:lumOff val="60000"/>
                      </a:schemeClr>
                    </a:solidFill>
                  </a:tcPr>
                </a:tc>
                <a:tc>
                  <a:txBody>
                    <a:bodyPr/>
                    <a:p>
                      <a:r>
                        <a:rPr sz="1400"/>
                        <a:t>Extends SDLC by emphasizing automation, deployment, monitoring, and collaboration after development.</a:t>
                      </a:r>
                      <a:endParaRPr sz="1400"/>
                    </a:p>
                  </a:txBody>
                  <a:tcPr marL="0" marR="0" marT="0" marB="0" anchor="ctr" anchorCtr="0">
                    <a:lnL>
                      <a:noFill/>
                    </a:lnL>
                    <a:lnR>
                      <a:noFill/>
                    </a:lnR>
                    <a:lnT>
                      <a:noFill/>
                    </a:lnT>
                    <a:lnB>
                      <a:noFill/>
                    </a:lnB>
                    <a:solidFill>
                      <a:schemeClr val="tx2">
                        <a:lumMod val="40000"/>
                        <a:lumOff val="60000"/>
                      </a:schemeClr>
                    </a:solidFill>
                  </a:tcPr>
                </a:tc>
              </a:tr>
              <a:tr h="161290">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r>
              <a:tr h="230505">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r>
              <a:tr h="229870">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c>
                  <a:txBody>
                    <a:bodyPr/>
                    <a:p>
                      <a:endParaRPr sz="89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1832610" y="520700"/>
            <a:ext cx="8055610" cy="830580"/>
          </a:xfrm>
          <a:prstGeom prst="rect">
            <a:avLst/>
          </a:prstGeom>
          <a:solidFill>
            <a:schemeClr val="tx2">
              <a:lumMod val="20000"/>
              <a:lumOff val="80000"/>
            </a:schemeClr>
          </a:solidFill>
        </p:spPr>
        <p:txBody>
          <a:bodyPr wrap="square" rtlCol="0">
            <a:noAutofit/>
          </a:bodyPr>
          <a:p>
            <a:pPr algn="ctr"/>
            <a:r>
              <a:rPr lang="en-US" sz="2000" b="1">
                <a:sym typeface="+mn-ea"/>
              </a:rPr>
              <a:t>5. How does SDLC compare with other lifecycle management methodologies?</a:t>
            </a:r>
            <a:endParaRPr sz="2000" b="1">
              <a:sym typeface="+mn-ea"/>
            </a:endParaRPr>
          </a:p>
          <a:p>
            <a:pPr algn="ctr"/>
            <a:endParaRPr lang="en-US" sz="2000" b="1">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330700" y="438785"/>
            <a:ext cx="3510915" cy="630555"/>
          </a:xfrm>
          <a:prstGeom prst="rect">
            <a:avLst/>
          </a:prstGeom>
          <a:solidFill>
            <a:schemeClr val="tx2">
              <a:lumMod val="20000"/>
              <a:lumOff val="80000"/>
            </a:schemeClr>
          </a:solidFill>
        </p:spPr>
        <p:txBody>
          <a:bodyPr wrap="square" rtlCol="0">
            <a:noAutofit/>
          </a:bodyPr>
          <a:p>
            <a:pPr algn="ctr"/>
            <a:r>
              <a:rPr lang="en-US" altLang="en-US" sz="2400" b="1">
                <a:sym typeface="+mn-ea"/>
              </a:rPr>
              <a:t>6. Conclusion</a:t>
            </a:r>
            <a:endParaRPr lang="en-US" altLang="en-US" sz="2400" b="1">
              <a:sym typeface="+mn-ea"/>
            </a:endParaRPr>
          </a:p>
        </p:txBody>
      </p:sp>
      <p:sp>
        <p:nvSpPr>
          <p:cNvPr id="7" name="Rounded Rectangle 6"/>
          <p:cNvSpPr/>
          <p:nvPr/>
        </p:nvSpPr>
        <p:spPr>
          <a:xfrm>
            <a:off x="1725295" y="1433830"/>
            <a:ext cx="9008745" cy="4667885"/>
          </a:xfrm>
          <a:prstGeom prst="roundRect">
            <a:avLst/>
          </a:prstGeom>
          <a:solidFill>
            <a:schemeClr val="tx2">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45"/>
          </a:p>
        </p:txBody>
      </p:sp>
      <p:sp>
        <p:nvSpPr>
          <p:cNvPr id="23" name="Text Box 22"/>
          <p:cNvSpPr txBox="1"/>
          <p:nvPr/>
        </p:nvSpPr>
        <p:spPr>
          <a:xfrm>
            <a:off x="3956050" y="1958340"/>
            <a:ext cx="4259580" cy="3906520"/>
          </a:xfrm>
          <a:prstGeom prst="rect">
            <a:avLst/>
          </a:prstGeom>
          <a:noFill/>
        </p:spPr>
        <p:txBody>
          <a:bodyPr wrap="square" rtlCol="0">
            <a:noAutofit/>
          </a:bodyPr>
          <a:p>
            <a:endParaRPr lang="en-US" altLang="en-US" sz="1400"/>
          </a:p>
          <a:p>
            <a:endParaRPr lang="en-US" altLang="en-US" sz="1400"/>
          </a:p>
          <a:p>
            <a:r>
              <a:rPr lang="en-US" altLang="en-US" sz="1400"/>
              <a:t>In conclusion, the Software Development Lifecycle (SDLC) is a structured process that guides software development teams from the initial idea through planning, design, development, testing, deployment, and maintenance. By following the SDLC, teams can develop high-quality, secure, and reliable software while reducing risks, controlling costs, and improving collaboration. Choosing the appropriate SDLC model, such as Waterfall, Agile, or Spiral, depends on the project's requirements and goals. Overall, the SDLC plays a vital role in ensuring that software is delivered efficiently and meets both user and business needs.</a:t>
            </a:r>
            <a:endParaRPr lang="en-US" altLang="en-US" sz="1400"/>
          </a:p>
          <a:p>
            <a:endParaRPr lang="en-US" altLang="en-US" sz="1400"/>
          </a:p>
        </p:txBody>
      </p:sp>
    </p:spTree>
  </p:cSld>
  <p:clrMapOvr>
    <a:masterClrMapping/>
  </p:clrMapOvr>
</p:sld>
</file>

<file path=ppt/tags/tag1.xml><?xml version="1.0" encoding="utf-8"?>
<p:tagLst xmlns:p="http://schemas.openxmlformats.org/presentationml/2006/main">
  <p:tag name="TABLE_ENDDRAG_ORIGIN_RECT" val="894*375"/>
  <p:tag name="TABLE_ENDDRAG_RECT" val="14*138*894*3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5862</Words>
  <Application>WPS Presentation</Application>
  <PresentationFormat>On-screen Show (4:3)</PresentationFormat>
  <Paragraphs>208</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Arial</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Fraterne Bahirwe</cp:lastModifiedBy>
  <cp:revision>6</cp:revision>
  <dcterms:created xsi:type="dcterms:W3CDTF">2026-07-26T18:54:27Z</dcterms:created>
  <dcterms:modified xsi:type="dcterms:W3CDTF">2026-07-26T18:54:27Z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8E0FBB881A17019FD331656A35726036_43</vt:lpwstr>
  </property>
</Properties>
</file>